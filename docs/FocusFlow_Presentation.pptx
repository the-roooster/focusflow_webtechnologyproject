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-914400"/>
            <a:ext cx="3840480" cy="3840480"/>
          </a:xfrm>
          <a:prstGeom prst="ellipse">
            <a:avLst/>
          </a:prstGeom>
          <a:solidFill>
            <a:srgbClr val="1D4ED8">
              <a:alpha val="18000"/>
            </a:srgbClr>
          </a:solidFill>
          <a:ln w="12700">
            <a:solidFill>
              <a:srgbClr val="1D4ED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-4572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3200400" cy="7315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17320"/>
            <a:ext cx="1234440" cy="1234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502920"/>
            <a:ext cx="2468880" cy="310896"/>
          </a:xfrm>
          <a:prstGeom prst="roundRect">
            <a:avLst>
              <a:gd name="adj" fmla="val 11765"/>
            </a:avLst>
          </a:prstGeom>
          <a:solidFill>
            <a:srgbClr val="1D4ED8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5029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8FAFC"/>
                </a:solidFill>
              </a:rPr>
              <a:t>B.TECH CSE  •  IILM UNIVERSITY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2920" y="9601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FocusFlow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502920" y="202996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Recovery‑First, EQ‑Driven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Web Application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" y="29260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Focus. Plan. Flow. Achieve.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38328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512" y="3383280"/>
            <a:ext cx="82296" cy="822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Shape 13"/>
          <p:cNvSpPr/>
          <p:nvPr/>
        </p:nvSpPr>
        <p:spPr>
          <a:xfrm>
            <a:off x="832104" y="338328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5661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STUDENT NAME(S)  |  Roll No: ___________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38221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FACULTY NAME  |  February 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64592" y="47731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•  Knowledge Park II, Greater Noida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productivity tools fail real people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57860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2578608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1380744" y="1261872"/>
            <a:ext cx="731520" cy="731520"/>
          </a:xfrm>
          <a:prstGeom prst="ellipse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>
                <a:alpha val="8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39903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" y="214884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Interfaces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" y="2578608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show the same dense UI regardless of user energy — overwhelming people on low-capacity days.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115568"/>
            <a:ext cx="257860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115568"/>
            <a:ext cx="2578608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4169664" y="1261872"/>
            <a:ext cx="731520" cy="73152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>
                <a:alpha val="8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39903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74136" y="214884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Punitive Feedback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92424" y="2578608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streaks, red overdue badges, and completion drops trigger shame spirals that demotivate rather than re-engage.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115568"/>
            <a:ext cx="257860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115568"/>
            <a:ext cx="25786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6"/>
          <p:cNvSpPr/>
          <p:nvPr/>
        </p:nvSpPr>
        <p:spPr>
          <a:xfrm>
            <a:off x="6958584" y="1261872"/>
            <a:ext cx="731520" cy="7315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139903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63056" y="214884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EQ Awareness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81344" y="2578608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mainstream tool asks how you feel, adapts to your state, or distinguishes burnout from a productive pause.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Shape 20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408736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"FocusFlow was built to meet users where they are — not where productivity culture expects them to be."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industry-standard, production-grade technologies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393192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78992"/>
            <a:ext cx="64008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115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3807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Routing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393192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10512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847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112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Type Safety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93192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542032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Persist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843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393192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73552"/>
            <a:ext cx="64008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575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Theming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393192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05072"/>
            <a:ext cx="64008" cy="566928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3068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417320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901184" y="1536192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1324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Layer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13248" y="1746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Router, page wrappers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240280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901184" y="2359152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13248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Layer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13248" y="25694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AppShell, Sidebar, TopBar, Toast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063240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4901184" y="318211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13248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13248" y="33924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 per module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Shape 41"/>
          <p:cNvSpPr/>
          <p:nvPr/>
        </p:nvSpPr>
        <p:spPr>
          <a:xfrm>
            <a:off x="4901184" y="400507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13248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13248" y="42153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Zustand stores + useRecoveryMode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modules forming a complete productivity ecosystem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2606040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1243584"/>
            <a:ext cx="640080" cy="640080"/>
          </a:xfrm>
          <a:prstGeom prst="ellipse">
            <a:avLst/>
          </a:prstGeom>
          <a:solidFill>
            <a:srgbClr val="1D4ED8">
              <a:alpha val="88000"/>
            </a:srgbClr>
          </a:solidFill>
          <a:ln w="12700">
            <a:solidFill>
              <a:srgbClr val="1D4ED8">
                <a:alpha val="88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12435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3776" y="1993392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Reset, ProgressRing, Daily Reflection &amp; Recovery Mode gateway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078992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078992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3511296" y="1243584"/>
            <a:ext cx="640080" cy="640080"/>
          </a:xfrm>
          <a:prstGeom prst="ellipse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>
                <a:alpha val="8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3716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70248" y="12435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Manager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11296" y="1993392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task cards, quick capture bar, completion tracking with timestamps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00800" y="1078992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1078992"/>
            <a:ext cx="2606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6"/>
          <p:cNvSpPr/>
          <p:nvPr/>
        </p:nvSpPr>
        <p:spPr>
          <a:xfrm>
            <a:off x="6528816" y="1243584"/>
            <a:ext cx="640080" cy="640080"/>
          </a:xfrm>
          <a:prstGeom prst="ellipse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0D9488">
                <a:alpha val="88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37160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87768" y="12435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Work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528816" y="1993392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circular Pomodoro timer (15/25/45/60m), session history, noise selector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5760" y="283464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65760" y="2834640"/>
            <a:ext cx="26060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1"/>
          <p:cNvSpPr/>
          <p:nvPr/>
        </p:nvSpPr>
        <p:spPr>
          <a:xfrm>
            <a:off x="493776" y="2999232"/>
            <a:ext cx="640080" cy="640080"/>
          </a:xfrm>
          <a:prstGeom prst="ellipse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>
                <a:alpha val="88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127248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52728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 Tracker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93776" y="3749040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strength scoring, heatmap calendar, hydration ring, radar chart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383280" y="283464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83280" y="2834640"/>
            <a:ext cx="2606040" cy="4572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2" name="Shape 26"/>
          <p:cNvSpPr/>
          <p:nvPr/>
        </p:nvSpPr>
        <p:spPr>
          <a:xfrm>
            <a:off x="3511296" y="2999232"/>
            <a:ext cx="640080" cy="640080"/>
          </a:xfrm>
          <a:prstGeom prst="ellipse">
            <a:avLst/>
          </a:prstGeom>
          <a:solidFill>
            <a:srgbClr val="DB2777">
              <a:alpha val="88000"/>
            </a:srgbClr>
          </a:solidFill>
          <a:ln w="12700">
            <a:solidFill>
              <a:srgbClr val="DB2777">
                <a:alpha val="8800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127248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270248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3511296" y="3749040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editor: text, heading, checklist, quote, divider, voice memo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400800" y="283464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400800" y="2834640"/>
            <a:ext cx="26060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hape 31"/>
          <p:cNvSpPr/>
          <p:nvPr/>
        </p:nvSpPr>
        <p:spPr>
          <a:xfrm>
            <a:off x="6528816" y="2999232"/>
            <a:ext cx="640080" cy="640080"/>
          </a:xfrm>
          <a:prstGeom prst="ellipse">
            <a:avLst/>
          </a:prstGeom>
          <a:solidFill>
            <a:srgbClr val="D97706">
              <a:alpha val="88000"/>
            </a:srgbClr>
          </a:solidFill>
          <a:ln w="12700">
            <a:solidFill>
              <a:srgbClr val="D97706">
                <a:alpha val="88000"/>
              </a:srgbClr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127248"/>
            <a:ext cx="384048" cy="38404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287768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528816" y="3749040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Reveal-gated Quiet Insights: focus bar chart, mood summary, affirmations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Mode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6949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FocusFlow’s defining innovation — the world’s first EQ-adaptive productivity interface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1600"/>
            <a:ext cx="1143000" cy="1143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078992"/>
            <a:ext cx="6858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078992"/>
            <a:ext cx="64008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07899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 →  lastProductiveAt timestamp exceeds recovery threshold (24+ hours of inactivity)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7360"/>
            <a:ext cx="2578608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737360"/>
            <a:ext cx="2578608" cy="4572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5681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7552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Auto‑Collapses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87552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nav cognitive load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46120" y="1737360"/>
            <a:ext cx="2578608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3246120" y="1737360"/>
            <a:ext cx="2578608" cy="4572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95681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76472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 → Max 3 Items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776472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overwhelm on re-entry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035040" y="1737360"/>
            <a:ext cx="2578608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8"/>
          <p:cNvSpPr/>
          <p:nvPr/>
        </p:nvSpPr>
        <p:spPr>
          <a:xfrm>
            <a:off x="6035040" y="1737360"/>
            <a:ext cx="2578608" cy="4572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956816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65392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Hidden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565392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can wait; presence first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57200" y="3017520"/>
            <a:ext cx="2578608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2"/>
          <p:cNvSpPr/>
          <p:nvPr/>
        </p:nvSpPr>
        <p:spPr>
          <a:xfrm>
            <a:off x="457200" y="3017520"/>
            <a:ext cx="2578608" cy="4572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3697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7552" y="31455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Gradient Overlay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987552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calm via recovery-mode-bg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246120" y="3017520"/>
            <a:ext cx="2578608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6"/>
          <p:cNvSpPr/>
          <p:nvPr/>
        </p:nvSpPr>
        <p:spPr>
          <a:xfrm>
            <a:off x="3246120" y="3017520"/>
            <a:ext cx="2578608" cy="4572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3236976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776472" y="31455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Banner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3776472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Days-since counter, compassionate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035040" y="3017520"/>
            <a:ext cx="2578608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0"/>
          <p:cNvSpPr/>
          <p:nvPr/>
        </p:nvSpPr>
        <p:spPr>
          <a:xfrm>
            <a:off x="6035040" y="3017520"/>
            <a:ext cx="2578608" cy="4572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3236976"/>
            <a:ext cx="329184" cy="3291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565392" y="31455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Reminders Mode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6565392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Breath, water, one thought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Features in Depth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Reset &amp; Quiet Insights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4023360" cy="64008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207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Reset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938528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1901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2112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Free-text: "I feel overwhelmed..."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487168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2688" y="24505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Engine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" y="2660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classifier → low / neutral / high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3035808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2688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Fusion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32688" y="3209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task count, habit score, sessions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3584448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2688" y="3547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32688" y="3758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message + CTA link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" y="4133088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32688" y="40965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Option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2688" y="43068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Zero-guilt dismissal, no negative feedback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105156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1051560"/>
            <a:ext cx="4023360" cy="640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502920" cy="5029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504688" y="1207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 Insights Analytics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892040" y="1865376"/>
            <a:ext cx="3749040" cy="53035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975104"/>
            <a:ext cx="310896" cy="31089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394960" y="190195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Pattern Bar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394960" y="213969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focus minutes across the week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892040" y="2532888"/>
            <a:ext cx="3749040" cy="53035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642616"/>
            <a:ext cx="310896" cy="31089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94960" y="25694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Strength Radar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394960" y="280720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polygon chart per habit axis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4892040" y="3200400"/>
            <a:ext cx="3749040" cy="53035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3310128"/>
            <a:ext cx="310896" cy="31089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394960" y="323697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Summary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5394960" y="347472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× completion × habit score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4892040" y="3867912"/>
            <a:ext cx="3749040" cy="53035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977640"/>
            <a:ext cx="310896" cy="31089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394960" y="390448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Insights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5394960" y="41422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Plain-language, supportive reflections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4754880" y="4352544"/>
            <a:ext cx="4023360" cy="35661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1" name="Text 43"/>
          <p:cNvSpPr/>
          <p:nvPr/>
        </p:nvSpPr>
        <p:spPr>
          <a:xfrm>
            <a:off x="4828032" y="4370832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Analytics hidden behind a RevealGate — user opts in when ready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System &amp; EQ‑First Philosophy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design decisions that reduce anxiety and increase compassion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1214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Blue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52728" y="1426464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21214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Cyan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48256" y="1426464"/>
            <a:ext cx="640080" cy="64008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21214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Teal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43784" y="1426464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21214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Dark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39312" y="1426464"/>
            <a:ext cx="640080" cy="640080"/>
          </a:xfrm>
          <a:prstGeom prst="ellipse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1214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Light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393192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432304"/>
            <a:ext cx="54864" cy="47548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43230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RED in the entire design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replaces success-green; Amber replaces warning-red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83280"/>
            <a:ext cx="54864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419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Scale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 – 48px (8 steps)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794760"/>
            <a:ext cx="54864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831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Radius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9999px (sm–full)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206240"/>
            <a:ext cx="54864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4242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Depth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8600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xs, sm, md, fab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617720"/>
            <a:ext cx="54864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654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4654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(UI) + Lora (editorial)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EQ‑First Principles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1554480"/>
            <a:ext cx="256032" cy="256032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1463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Targets, Not Daily Streaks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1700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penalty for missed days; supports flexible scheduling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2194560"/>
            <a:ext cx="256032" cy="256032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2103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RevealGate for Analytics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2340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opts in to see data when emotionally ready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2834640"/>
            <a:ext cx="256032" cy="256032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12080" y="2743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Yet" Interaction Pattern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Zero-guilt dismissal of any suggestion or prompt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3474720"/>
            <a:ext cx="256032" cy="256032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12080" y="3383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Mode Auto-Activation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12080" y="3621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triggers compassionate, low-friction re-entry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4114800"/>
            <a:ext cx="256032" cy="256032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12080" y="4023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Calming Micro-copy Throughout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rush", "Breathe", "That's more than enough"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Evaluation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validation, responsiveness, performance &amp; UI/UX assessment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18288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1865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78992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78992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18872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468880" y="1865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78992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78992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18872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0" y="1865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078992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078992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18872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675120" y="1865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578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Responsiveness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44368"/>
          <a:ext cx="4937760" cy="1810512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371600"/>
                <a:gridCol w="1005840"/>
              </a:tblGrid>
              <a:tr h="3621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21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1440px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(52w)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3-column grid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1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1280px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(52w)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2-column adaptive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1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 768px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1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375px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Nav 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669280" y="2578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Heuristics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0" y="2962656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5724144" y="2980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Standards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29600" y="29809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0" y="3310128"/>
            <a:ext cx="32004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6"/>
          <p:cNvSpPr/>
          <p:nvPr/>
        </p:nvSpPr>
        <p:spPr>
          <a:xfrm>
            <a:off x="5724144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Prevention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229600" y="33284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69280" y="3657600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5724144" y="3675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Design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29600" y="36758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669280" y="4005072"/>
            <a:ext cx="32004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2"/>
          <p:cNvSpPr/>
          <p:nvPr/>
        </p:nvSpPr>
        <p:spPr>
          <a:xfrm>
            <a:off x="5724144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&amp; Efficiency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29600" y="40233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669280" y="4352544"/>
            <a:ext cx="32004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5724144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Recover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229600" y="43708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4937760" cy="11338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98448"/>
            <a:ext cx="64008" cy="1133856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16736"/>
            <a:ext cx="4645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successfully delivers 6 modules, 49 components,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dev phases,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novel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Recovery-First EQ architecture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demonstrably lowers re-entry friction for users recovering from unproductive periods.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4436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2944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Mode auto-adaptive system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4670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" y="33467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EQ-first design token architecture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904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6384" y="3749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note editor (6 types)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513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384" y="4151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Pomodoro timer w/ session log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5371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86384" y="45537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+ bar chart analytics module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3017520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94436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46704" y="2944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+ multi-device sync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3346704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346704" y="33467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NLP-enhanced sentiment engine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374904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346704" y="3749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packaging + offline support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7520" y="4151376"/>
            <a:ext cx="237744" cy="23774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346704" y="4151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weekly review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4553712"/>
            <a:ext cx="237744" cy="23774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346704" y="45537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WCAG 2.1 AA accessibility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5669280" y="1298448"/>
            <a:ext cx="3200400" cy="3383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1"/>
          <p:cNvSpPr/>
          <p:nvPr/>
        </p:nvSpPr>
        <p:spPr>
          <a:xfrm>
            <a:off x="5669280" y="1298448"/>
            <a:ext cx="3200400" cy="64008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1554480"/>
            <a:ext cx="1188720" cy="118872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669280" y="2852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6" name="Text 23"/>
          <p:cNvSpPr/>
          <p:nvPr/>
        </p:nvSpPr>
        <p:spPr>
          <a:xfrm>
            <a:off x="566928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Focus. Plan.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 Achieve.</a:t>
            </a:r>
            <a:endParaRPr lang="en-US" sz="1100" dirty="0"/>
          </a:p>
        </p:txBody>
      </p:sp>
      <p:sp>
        <p:nvSpPr>
          <p:cNvPr id="37" name="Text 24"/>
          <p:cNvSpPr/>
          <p:nvPr/>
        </p:nvSpPr>
        <p:spPr>
          <a:xfrm>
            <a:off x="566928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• B.Tech CSE • Feb 2026</a:t>
            </a:r>
            <a:endParaRPr lang="en-US" sz="900" dirty="0"/>
          </a:p>
        </p:txBody>
      </p:sp>
      <p:sp>
        <p:nvSpPr>
          <p:cNvPr id="38" name="Text 25"/>
          <p:cNvSpPr/>
          <p:nvPr/>
        </p:nvSpPr>
        <p:spPr>
          <a:xfrm>
            <a:off x="5669280" y="4389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welcome!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FocusFlow — Project Evaluation</dc:title>
  <dc:subject>PptxGenJS Presentation</dc:subject>
  <dc:creator>IILM University</dc:creator>
  <cp:lastModifiedBy>IILM University</cp:lastModifiedBy>
  <cp:revision>1</cp:revision>
  <dcterms:created xsi:type="dcterms:W3CDTF">2026-05-04T07:09:56Z</dcterms:created>
  <dcterms:modified xsi:type="dcterms:W3CDTF">2026-05-04T07:09:56Z</dcterms:modified>
</cp:coreProperties>
</file>